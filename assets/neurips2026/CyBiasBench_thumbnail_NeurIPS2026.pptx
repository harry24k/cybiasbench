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notesMasterIdLst>
    <p:notesMasterId r:id="rId12"/>
  </p:notesMasterIdLst>
  <p:sldSz cx="5760720" cy="4608576"/>
  <p:notesSz cx="4608576" cy="57607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CyBiasBench, Figure 1 (figs/radar_sel_vs_asr.pdf), Overleaf export dated 2026-10-19. Solid colored lines show selection rate and gray dashed lines show attack success rate. The original figure's curve shapes and normalization are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" y="310896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F5F6F7"/>
          </a:solidFill>
          <a:ln w="12065">
            <a:solidFill>
              <a:srgbClr val="969DA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47472" y="109728"/>
            <a:ext cx="5065776" cy="448056"/>
          </a:xfrm>
          <a:prstGeom prst="rect">
            <a:avLst/>
          </a:prstGeom>
          <a:solidFill>
            <a:srgbClr val="FFFFFF"/>
          </a:solidFill>
          <a:ln w="12065">
            <a:solidFill>
              <a:srgbClr val="969DA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9768" y="192024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CyBiasBench (NeurIPS 2026)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11480" y="713232"/>
            <a:ext cx="4937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9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Attack-selection bias of LLM agents</a:t>
            </a:r>
            <a:endParaRPr lang="en-US" sz="1480" dirty="0"/>
          </a:p>
        </p:txBody>
      </p:sp>
      <p:sp>
        <p:nvSpPr>
          <p:cNvPr id="7" name="Shape 4"/>
          <p:cNvSpPr/>
          <p:nvPr/>
        </p:nvSpPr>
        <p:spPr>
          <a:xfrm>
            <a:off x="900684" y="1668780"/>
            <a:ext cx="246888" cy="246888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545336"/>
            <a:ext cx="493776" cy="493776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" y="1421892"/>
            <a:ext cx="740664" cy="740664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1298448"/>
            <a:ext cx="987552" cy="987552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1298448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14300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</a:t>
            </a:r>
            <a:endParaRPr lang="en-US" sz="560" dirty="0"/>
          </a:p>
        </p:txBody>
      </p:sp>
      <p:sp>
        <p:nvSpPr>
          <p:cNvPr id="13" name="Shape 10"/>
          <p:cNvSpPr/>
          <p:nvPr/>
        </p:nvSpPr>
        <p:spPr>
          <a:xfrm flipV="1">
            <a:off x="1024128" y="1392751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0797" y="125563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560" dirty="0"/>
          </a:p>
        </p:txBody>
      </p:sp>
      <p:sp>
        <p:nvSpPr>
          <p:cNvPr id="15" name="Shape 12"/>
          <p:cNvSpPr/>
          <p:nvPr/>
        </p:nvSpPr>
        <p:spPr>
          <a:xfrm flipV="1">
            <a:off x="1024128" y="1639639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85050" y="155053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CMDi</a:t>
            </a:r>
            <a:endParaRPr lang="en-US" sz="560" dirty="0"/>
          </a:p>
        </p:txBody>
      </p:sp>
      <p:sp>
        <p:nvSpPr>
          <p:cNvPr id="17" name="Shape 14"/>
          <p:cNvSpPr/>
          <p:nvPr/>
        </p:nvSpPr>
        <p:spPr>
          <a:xfrm>
            <a:off x="1024128" y="1792224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85050" y="191504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560" dirty="0"/>
          </a:p>
        </p:txBody>
      </p:sp>
      <p:sp>
        <p:nvSpPr>
          <p:cNvPr id="19" name="Shape 16"/>
          <p:cNvSpPr/>
          <p:nvPr/>
        </p:nvSpPr>
        <p:spPr>
          <a:xfrm>
            <a:off x="1024128" y="1792224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0797" y="22099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560" dirty="0"/>
          </a:p>
        </p:txBody>
      </p:sp>
      <p:sp>
        <p:nvSpPr>
          <p:cNvPr id="21" name="Shape 18"/>
          <p:cNvSpPr/>
          <p:nvPr/>
        </p:nvSpPr>
        <p:spPr>
          <a:xfrm>
            <a:off x="1024128" y="1792224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23225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</a:t>
            </a:r>
            <a:endParaRPr lang="en-US" sz="560" dirty="0"/>
          </a:p>
        </p:txBody>
      </p:sp>
      <p:sp>
        <p:nvSpPr>
          <p:cNvPr id="23" name="Shape 20"/>
          <p:cNvSpPr/>
          <p:nvPr/>
        </p:nvSpPr>
        <p:spPr>
          <a:xfrm flipV="1">
            <a:off x="733894" y="1792224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1699" y="22099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</a:t>
            </a:r>
            <a:endParaRPr lang="en-US" sz="560" dirty="0"/>
          </a:p>
        </p:txBody>
      </p:sp>
      <p:sp>
        <p:nvSpPr>
          <p:cNvPr id="25" name="Shape 22"/>
          <p:cNvSpPr/>
          <p:nvPr/>
        </p:nvSpPr>
        <p:spPr>
          <a:xfrm flipV="1">
            <a:off x="554519" y="1792224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446" y="191504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</a:t>
            </a:r>
            <a:endParaRPr lang="en-US" sz="560" dirty="0"/>
          </a:p>
        </p:txBody>
      </p:sp>
      <p:sp>
        <p:nvSpPr>
          <p:cNvPr id="27" name="Shape 24"/>
          <p:cNvSpPr/>
          <p:nvPr/>
        </p:nvSpPr>
        <p:spPr>
          <a:xfrm>
            <a:off x="554519" y="1639639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7446" y="155053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560" dirty="0"/>
          </a:p>
        </p:txBody>
      </p:sp>
      <p:sp>
        <p:nvSpPr>
          <p:cNvPr id="29" name="Shape 26"/>
          <p:cNvSpPr/>
          <p:nvPr/>
        </p:nvSpPr>
        <p:spPr>
          <a:xfrm>
            <a:off x="733894" y="1392751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1699" y="125563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560" dirty="0"/>
          </a:p>
        </p:txBody>
      </p:sp>
      <p:sp>
        <p:nvSpPr>
          <p:cNvPr id="31" name="Shape 28"/>
          <p:cNvSpPr/>
          <p:nvPr/>
        </p:nvSpPr>
        <p:spPr>
          <a:xfrm>
            <a:off x="530352" y="1298448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142896"/>
                </a:moveTo>
                <a:lnTo>
                  <a:pt x="685440" y="229973"/>
                </a:lnTo>
                <a:lnTo>
                  <a:pt x="493776" y="493776"/>
                </a:lnTo>
                <a:lnTo>
                  <a:pt x="501180" y="496182"/>
                </a:lnTo>
                <a:lnTo>
                  <a:pt x="735033" y="825838"/>
                </a:lnTo>
                <a:lnTo>
                  <a:pt x="493776" y="987552"/>
                </a:lnTo>
                <a:lnTo>
                  <a:pt x="424997" y="588443"/>
                </a:lnTo>
                <a:lnTo>
                  <a:pt x="493776" y="493776"/>
                </a:lnTo>
                <a:lnTo>
                  <a:pt x="40361" y="346452"/>
                </a:lnTo>
                <a:lnTo>
                  <a:pt x="269011" y="184414"/>
                </a:lnTo>
                <a:close/>
              </a:path>
            </a:pathLst>
          </a:custGeom>
          <a:solidFill>
            <a:srgbClr val="969CA3">
              <a:alpha val="0"/>
            </a:srgbClr>
          </a:solidFill>
          <a:ln w="12065">
            <a:solidFill>
              <a:srgbClr val="969CA3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530352" y="1298448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259658"/>
                </a:moveTo>
                <a:lnTo>
                  <a:pt x="626383" y="311258"/>
                </a:lnTo>
                <a:lnTo>
                  <a:pt x="613877" y="454753"/>
                </a:lnTo>
                <a:lnTo>
                  <a:pt x="793354" y="591115"/>
                </a:lnTo>
                <a:lnTo>
                  <a:pt x="627217" y="677442"/>
                </a:lnTo>
                <a:lnTo>
                  <a:pt x="493776" y="632828"/>
                </a:lnTo>
                <a:lnTo>
                  <a:pt x="413711" y="603975"/>
                </a:lnTo>
                <a:lnTo>
                  <a:pt x="481631" y="497722"/>
                </a:lnTo>
                <a:lnTo>
                  <a:pt x="454642" y="481060"/>
                </a:lnTo>
                <a:lnTo>
                  <a:pt x="203542" y="94303"/>
                </a:lnTo>
                <a:close/>
              </a:path>
            </a:pathLst>
          </a:custGeom>
          <a:solidFill>
            <a:srgbClr val="D97757">
              <a:alpha val="17000"/>
            </a:srgbClr>
          </a:solidFill>
          <a:ln w="20955">
            <a:solidFill>
              <a:srgbClr val="D9775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" y="25008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30" dirty="0"/>
          </a:p>
        </p:txBody>
      </p:sp>
      <p:sp>
        <p:nvSpPr>
          <p:cNvPr id="34" name="Shape 31"/>
          <p:cNvSpPr/>
          <p:nvPr/>
        </p:nvSpPr>
        <p:spPr>
          <a:xfrm>
            <a:off x="2756916" y="1668780"/>
            <a:ext cx="246888" cy="246888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633472" y="1545336"/>
            <a:ext cx="493776" cy="493776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510028" y="1421892"/>
            <a:ext cx="740664" cy="740664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86584" y="1298448"/>
            <a:ext cx="987552" cy="987552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80360" y="1298448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697480" y="114300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</a:t>
            </a:r>
            <a:endParaRPr lang="en-US" sz="560" dirty="0"/>
          </a:p>
        </p:txBody>
      </p:sp>
      <p:sp>
        <p:nvSpPr>
          <p:cNvPr id="40" name="Shape 37"/>
          <p:cNvSpPr/>
          <p:nvPr/>
        </p:nvSpPr>
        <p:spPr>
          <a:xfrm flipV="1">
            <a:off x="2880360" y="1392751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27029" y="125563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560" dirty="0"/>
          </a:p>
        </p:txBody>
      </p:sp>
      <p:sp>
        <p:nvSpPr>
          <p:cNvPr id="42" name="Shape 39"/>
          <p:cNvSpPr/>
          <p:nvPr/>
        </p:nvSpPr>
        <p:spPr>
          <a:xfrm flipV="1">
            <a:off x="2880360" y="1639639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41282" y="155053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CMDi</a:t>
            </a:r>
            <a:endParaRPr lang="en-US" sz="560" dirty="0"/>
          </a:p>
        </p:txBody>
      </p:sp>
      <p:sp>
        <p:nvSpPr>
          <p:cNvPr id="44" name="Shape 41"/>
          <p:cNvSpPr/>
          <p:nvPr/>
        </p:nvSpPr>
        <p:spPr>
          <a:xfrm>
            <a:off x="2880360" y="1792224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41282" y="191504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560" dirty="0"/>
          </a:p>
        </p:txBody>
      </p:sp>
      <p:sp>
        <p:nvSpPr>
          <p:cNvPr id="46" name="Shape 43"/>
          <p:cNvSpPr/>
          <p:nvPr/>
        </p:nvSpPr>
        <p:spPr>
          <a:xfrm>
            <a:off x="2880360" y="1792224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27029" y="22099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560" dirty="0"/>
          </a:p>
        </p:txBody>
      </p:sp>
      <p:sp>
        <p:nvSpPr>
          <p:cNvPr id="48" name="Shape 45"/>
          <p:cNvSpPr/>
          <p:nvPr/>
        </p:nvSpPr>
        <p:spPr>
          <a:xfrm>
            <a:off x="2880360" y="1792224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697480" y="23225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</a:t>
            </a:r>
            <a:endParaRPr lang="en-US" sz="560" dirty="0"/>
          </a:p>
        </p:txBody>
      </p:sp>
      <p:sp>
        <p:nvSpPr>
          <p:cNvPr id="50" name="Shape 47"/>
          <p:cNvSpPr/>
          <p:nvPr/>
        </p:nvSpPr>
        <p:spPr>
          <a:xfrm flipV="1">
            <a:off x="2590126" y="1792224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67931" y="22099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</a:t>
            </a:r>
            <a:endParaRPr lang="en-US" sz="560" dirty="0"/>
          </a:p>
        </p:txBody>
      </p:sp>
      <p:sp>
        <p:nvSpPr>
          <p:cNvPr id="52" name="Shape 49"/>
          <p:cNvSpPr/>
          <p:nvPr/>
        </p:nvSpPr>
        <p:spPr>
          <a:xfrm flipV="1">
            <a:off x="2410751" y="1792224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953678" y="191504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</a:t>
            </a:r>
            <a:endParaRPr lang="en-US" sz="560" dirty="0"/>
          </a:p>
        </p:txBody>
      </p:sp>
      <p:sp>
        <p:nvSpPr>
          <p:cNvPr id="54" name="Shape 51"/>
          <p:cNvSpPr/>
          <p:nvPr/>
        </p:nvSpPr>
        <p:spPr>
          <a:xfrm>
            <a:off x="2410751" y="1639639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953678" y="155053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560" dirty="0"/>
          </a:p>
        </p:txBody>
      </p:sp>
      <p:sp>
        <p:nvSpPr>
          <p:cNvPr id="56" name="Shape 53"/>
          <p:cNvSpPr/>
          <p:nvPr/>
        </p:nvSpPr>
        <p:spPr>
          <a:xfrm>
            <a:off x="2590126" y="1392751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67931" y="125563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560" dirty="0"/>
          </a:p>
        </p:txBody>
      </p:sp>
      <p:sp>
        <p:nvSpPr>
          <p:cNvPr id="58" name="Shape 55"/>
          <p:cNvSpPr/>
          <p:nvPr/>
        </p:nvSpPr>
        <p:spPr>
          <a:xfrm>
            <a:off x="2386584" y="1298448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329184"/>
                </a:moveTo>
                <a:lnTo>
                  <a:pt x="562066" y="399782"/>
                </a:lnTo>
                <a:lnTo>
                  <a:pt x="493776" y="493776"/>
                </a:lnTo>
                <a:lnTo>
                  <a:pt x="515122" y="500712"/>
                </a:lnTo>
                <a:lnTo>
                  <a:pt x="629630" y="680763"/>
                </a:lnTo>
                <a:lnTo>
                  <a:pt x="493776" y="649705"/>
                </a:lnTo>
                <a:lnTo>
                  <a:pt x="493776" y="493776"/>
                </a:lnTo>
                <a:lnTo>
                  <a:pt x="24167" y="341191"/>
                </a:lnTo>
                <a:lnTo>
                  <a:pt x="429654" y="405520"/>
                </a:lnTo>
                <a:close/>
              </a:path>
            </a:pathLst>
          </a:custGeom>
          <a:solidFill>
            <a:srgbClr val="969CA3">
              <a:alpha val="0"/>
            </a:srgbClr>
          </a:solidFill>
          <a:ln w="12065">
            <a:solidFill>
              <a:srgbClr val="969CA3"/>
            </a:solidFill>
            <a:prstDash val="dash"/>
          </a:ln>
        </p:spPr>
      </p:sp>
      <p:sp>
        <p:nvSpPr>
          <p:cNvPr id="59" name="Shape 56"/>
          <p:cNvSpPr/>
          <p:nvPr/>
        </p:nvSpPr>
        <p:spPr>
          <a:xfrm>
            <a:off x="2386584" y="1298448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304304"/>
                </a:moveTo>
                <a:lnTo>
                  <a:pt x="665892" y="256879"/>
                </a:lnTo>
                <a:lnTo>
                  <a:pt x="521079" y="484905"/>
                </a:lnTo>
                <a:lnTo>
                  <a:pt x="613908" y="532809"/>
                </a:lnTo>
                <a:lnTo>
                  <a:pt x="652392" y="712093"/>
                </a:lnTo>
                <a:lnTo>
                  <a:pt x="493776" y="602866"/>
                </a:lnTo>
                <a:lnTo>
                  <a:pt x="476902" y="517001"/>
                </a:lnTo>
                <a:lnTo>
                  <a:pt x="477394" y="499099"/>
                </a:lnTo>
                <a:lnTo>
                  <a:pt x="482855" y="490227"/>
                </a:lnTo>
                <a:lnTo>
                  <a:pt x="203542" y="94303"/>
                </a:lnTo>
                <a:close/>
              </a:path>
            </a:pathLst>
          </a:custGeom>
          <a:solidFill>
            <a:srgbClr val="10A37F">
              <a:alpha val="17000"/>
            </a:srgbClr>
          </a:solidFill>
          <a:ln w="20955">
            <a:solidFill>
              <a:srgbClr val="10A37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286000" y="25008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1130" dirty="0"/>
          </a:p>
        </p:txBody>
      </p:sp>
      <p:sp>
        <p:nvSpPr>
          <p:cNvPr id="61" name="Shape 58"/>
          <p:cNvSpPr/>
          <p:nvPr/>
        </p:nvSpPr>
        <p:spPr>
          <a:xfrm>
            <a:off x="4613148" y="1668780"/>
            <a:ext cx="246888" cy="246888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489704" y="1545336"/>
            <a:ext cx="493776" cy="493776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366260" y="1421892"/>
            <a:ext cx="740664" cy="740664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242816" y="1298448"/>
            <a:ext cx="987552" cy="987552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736592" y="1298448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553712" y="114300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</a:t>
            </a:r>
            <a:endParaRPr lang="en-US" sz="560" dirty="0"/>
          </a:p>
        </p:txBody>
      </p:sp>
      <p:sp>
        <p:nvSpPr>
          <p:cNvPr id="67" name="Shape 64"/>
          <p:cNvSpPr/>
          <p:nvPr/>
        </p:nvSpPr>
        <p:spPr>
          <a:xfrm flipV="1">
            <a:off x="4736592" y="1392751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083261" y="125563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560" dirty="0"/>
          </a:p>
        </p:txBody>
      </p:sp>
      <p:sp>
        <p:nvSpPr>
          <p:cNvPr id="69" name="Shape 66"/>
          <p:cNvSpPr/>
          <p:nvPr/>
        </p:nvSpPr>
        <p:spPr>
          <a:xfrm flipV="1">
            <a:off x="4736592" y="1639639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297514" y="155053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CMDi</a:t>
            </a:r>
            <a:endParaRPr lang="en-US" sz="560" dirty="0"/>
          </a:p>
        </p:txBody>
      </p:sp>
      <p:sp>
        <p:nvSpPr>
          <p:cNvPr id="71" name="Shape 68"/>
          <p:cNvSpPr/>
          <p:nvPr/>
        </p:nvSpPr>
        <p:spPr>
          <a:xfrm>
            <a:off x="4736592" y="1792224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297514" y="191504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560" dirty="0"/>
          </a:p>
        </p:txBody>
      </p:sp>
      <p:sp>
        <p:nvSpPr>
          <p:cNvPr id="73" name="Shape 70"/>
          <p:cNvSpPr/>
          <p:nvPr/>
        </p:nvSpPr>
        <p:spPr>
          <a:xfrm>
            <a:off x="4736592" y="1792224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083261" y="22099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560" dirty="0"/>
          </a:p>
        </p:txBody>
      </p:sp>
      <p:sp>
        <p:nvSpPr>
          <p:cNvPr id="75" name="Shape 72"/>
          <p:cNvSpPr/>
          <p:nvPr/>
        </p:nvSpPr>
        <p:spPr>
          <a:xfrm>
            <a:off x="4736592" y="1792224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553712" y="23225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</a:t>
            </a:r>
            <a:endParaRPr lang="en-US" sz="560" dirty="0"/>
          </a:p>
        </p:txBody>
      </p:sp>
      <p:sp>
        <p:nvSpPr>
          <p:cNvPr id="77" name="Shape 74"/>
          <p:cNvSpPr/>
          <p:nvPr/>
        </p:nvSpPr>
        <p:spPr>
          <a:xfrm flipV="1">
            <a:off x="4446358" y="1792224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024163" y="22099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</a:t>
            </a:r>
            <a:endParaRPr lang="en-US" sz="560" dirty="0"/>
          </a:p>
        </p:txBody>
      </p:sp>
      <p:sp>
        <p:nvSpPr>
          <p:cNvPr id="79" name="Shape 76"/>
          <p:cNvSpPr/>
          <p:nvPr/>
        </p:nvSpPr>
        <p:spPr>
          <a:xfrm flipV="1">
            <a:off x="4266983" y="1792224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809910" y="191504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</a:t>
            </a:r>
            <a:endParaRPr lang="en-US" sz="560" dirty="0"/>
          </a:p>
        </p:txBody>
      </p:sp>
      <p:sp>
        <p:nvSpPr>
          <p:cNvPr id="81" name="Shape 78"/>
          <p:cNvSpPr/>
          <p:nvPr/>
        </p:nvSpPr>
        <p:spPr>
          <a:xfrm>
            <a:off x="4266983" y="1639639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3809910" y="155053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560" dirty="0"/>
          </a:p>
        </p:txBody>
      </p:sp>
      <p:sp>
        <p:nvSpPr>
          <p:cNvPr id="83" name="Shape 80"/>
          <p:cNvSpPr/>
          <p:nvPr/>
        </p:nvSpPr>
        <p:spPr>
          <a:xfrm>
            <a:off x="4446358" y="1392751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4024163" y="125563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560" dirty="0"/>
          </a:p>
        </p:txBody>
      </p:sp>
      <p:sp>
        <p:nvSpPr>
          <p:cNvPr id="85" name="Shape 82"/>
          <p:cNvSpPr/>
          <p:nvPr/>
        </p:nvSpPr>
        <p:spPr>
          <a:xfrm>
            <a:off x="4242816" y="1298448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305926"/>
                </a:moveTo>
                <a:lnTo>
                  <a:pt x="670748" y="250195"/>
                </a:lnTo>
                <a:lnTo>
                  <a:pt x="493776" y="493776"/>
                </a:lnTo>
                <a:lnTo>
                  <a:pt x="514930" y="500649"/>
                </a:lnTo>
                <a:lnTo>
                  <a:pt x="665420" y="730024"/>
                </a:lnTo>
                <a:lnTo>
                  <a:pt x="493776" y="987552"/>
                </a:lnTo>
                <a:lnTo>
                  <a:pt x="435729" y="573671"/>
                </a:lnTo>
                <a:lnTo>
                  <a:pt x="493776" y="493776"/>
                </a:lnTo>
                <a:lnTo>
                  <a:pt x="102435" y="366622"/>
                </a:lnTo>
                <a:lnTo>
                  <a:pt x="344479" y="288286"/>
                </a:lnTo>
                <a:close/>
              </a:path>
            </a:pathLst>
          </a:custGeom>
          <a:solidFill>
            <a:srgbClr val="969CA3">
              <a:alpha val="0"/>
            </a:srgbClr>
          </a:solidFill>
          <a:ln w="12065">
            <a:solidFill>
              <a:srgbClr val="969CA3"/>
            </a:solidFill>
            <a:prstDash val="dash"/>
          </a:ln>
        </p:spPr>
      </p:sp>
      <p:sp>
        <p:nvSpPr>
          <p:cNvPr id="86" name="Shape 83"/>
          <p:cNvSpPr/>
          <p:nvPr/>
        </p:nvSpPr>
        <p:spPr>
          <a:xfrm>
            <a:off x="4242816" y="1298448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lnTo>
                  <a:pt x="752463" y="137724"/>
                </a:lnTo>
                <a:lnTo>
                  <a:pt x="565238" y="470556"/>
                </a:lnTo>
                <a:lnTo>
                  <a:pt x="682641" y="555142"/>
                </a:lnTo>
                <a:lnTo>
                  <a:pt x="591572" y="628381"/>
                </a:lnTo>
                <a:lnTo>
                  <a:pt x="493776" y="574283"/>
                </a:lnTo>
                <a:lnTo>
                  <a:pt x="336040" y="710881"/>
                </a:lnTo>
                <a:lnTo>
                  <a:pt x="493776" y="493776"/>
                </a:lnTo>
                <a:lnTo>
                  <a:pt x="473358" y="487142"/>
                </a:lnTo>
                <a:lnTo>
                  <a:pt x="238244" y="142066"/>
                </a:lnTo>
                <a:close/>
              </a:path>
            </a:pathLst>
          </a:custGeom>
          <a:solidFill>
            <a:srgbClr val="4285F4">
              <a:alpha val="17000"/>
            </a:srgbClr>
          </a:solidFill>
          <a:ln w="20955">
            <a:solidFill>
              <a:srgbClr val="4285F4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142232" y="25008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130" dirty="0"/>
          </a:p>
        </p:txBody>
      </p:sp>
      <p:sp>
        <p:nvSpPr>
          <p:cNvPr id="88" name="Shape 85"/>
          <p:cNvSpPr/>
          <p:nvPr/>
        </p:nvSpPr>
        <p:spPr>
          <a:xfrm>
            <a:off x="1824228" y="3204972"/>
            <a:ext cx="246888" cy="246888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700784" y="3081528"/>
            <a:ext cx="493776" cy="493776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577340" y="2958084"/>
            <a:ext cx="740664" cy="740664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453896" y="2834640"/>
            <a:ext cx="987552" cy="987552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947672" y="2834640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764792" y="267919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</a:t>
            </a:r>
            <a:endParaRPr lang="en-US" sz="560" dirty="0"/>
          </a:p>
        </p:txBody>
      </p:sp>
      <p:sp>
        <p:nvSpPr>
          <p:cNvPr id="94" name="Shape 91"/>
          <p:cNvSpPr/>
          <p:nvPr/>
        </p:nvSpPr>
        <p:spPr>
          <a:xfrm flipV="1">
            <a:off x="1947672" y="2928943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2294341" y="279183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560" dirty="0"/>
          </a:p>
        </p:txBody>
      </p:sp>
      <p:sp>
        <p:nvSpPr>
          <p:cNvPr id="96" name="Shape 93"/>
          <p:cNvSpPr/>
          <p:nvPr/>
        </p:nvSpPr>
        <p:spPr>
          <a:xfrm flipV="1">
            <a:off x="1947672" y="3175831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2508594" y="308672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CMDi</a:t>
            </a:r>
            <a:endParaRPr lang="en-US" sz="560" dirty="0"/>
          </a:p>
        </p:txBody>
      </p:sp>
      <p:sp>
        <p:nvSpPr>
          <p:cNvPr id="98" name="Shape 95"/>
          <p:cNvSpPr/>
          <p:nvPr/>
        </p:nvSpPr>
        <p:spPr>
          <a:xfrm>
            <a:off x="1947672" y="3328416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2508594" y="345123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560" dirty="0"/>
          </a:p>
        </p:txBody>
      </p:sp>
      <p:sp>
        <p:nvSpPr>
          <p:cNvPr id="100" name="Shape 97"/>
          <p:cNvSpPr/>
          <p:nvPr/>
        </p:nvSpPr>
        <p:spPr>
          <a:xfrm>
            <a:off x="1947672" y="3328416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2294341" y="374612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560" dirty="0"/>
          </a:p>
        </p:txBody>
      </p:sp>
      <p:sp>
        <p:nvSpPr>
          <p:cNvPr id="102" name="Shape 99"/>
          <p:cNvSpPr/>
          <p:nvPr/>
        </p:nvSpPr>
        <p:spPr>
          <a:xfrm>
            <a:off x="1947672" y="3328416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764792" y="385876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</a:t>
            </a:r>
            <a:endParaRPr lang="en-US" sz="560" dirty="0"/>
          </a:p>
        </p:txBody>
      </p:sp>
      <p:sp>
        <p:nvSpPr>
          <p:cNvPr id="104" name="Shape 101"/>
          <p:cNvSpPr/>
          <p:nvPr/>
        </p:nvSpPr>
        <p:spPr>
          <a:xfrm flipV="1">
            <a:off x="1657438" y="3328416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235243" y="374612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</a:t>
            </a:r>
            <a:endParaRPr lang="en-US" sz="560" dirty="0"/>
          </a:p>
        </p:txBody>
      </p:sp>
      <p:sp>
        <p:nvSpPr>
          <p:cNvPr id="106" name="Shape 103"/>
          <p:cNvSpPr/>
          <p:nvPr/>
        </p:nvSpPr>
        <p:spPr>
          <a:xfrm flipV="1">
            <a:off x="1478063" y="3328416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1020990" y="345123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</a:t>
            </a:r>
            <a:endParaRPr lang="en-US" sz="560" dirty="0"/>
          </a:p>
        </p:txBody>
      </p:sp>
      <p:sp>
        <p:nvSpPr>
          <p:cNvPr id="108" name="Shape 105"/>
          <p:cNvSpPr/>
          <p:nvPr/>
        </p:nvSpPr>
        <p:spPr>
          <a:xfrm>
            <a:off x="1478063" y="3175831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020990" y="308672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560" dirty="0"/>
          </a:p>
        </p:txBody>
      </p:sp>
      <p:sp>
        <p:nvSpPr>
          <p:cNvPr id="110" name="Shape 107"/>
          <p:cNvSpPr/>
          <p:nvPr/>
        </p:nvSpPr>
        <p:spPr>
          <a:xfrm>
            <a:off x="1657438" y="2928943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235243" y="279183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560" dirty="0"/>
          </a:p>
        </p:txBody>
      </p:sp>
      <p:sp>
        <p:nvSpPr>
          <p:cNvPr id="112" name="Shape 109"/>
          <p:cNvSpPr/>
          <p:nvPr/>
        </p:nvSpPr>
        <p:spPr>
          <a:xfrm>
            <a:off x="1453896" y="283464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161292"/>
                </a:moveTo>
                <a:lnTo>
                  <a:pt x="604114" y="341909"/>
                </a:lnTo>
                <a:lnTo>
                  <a:pt x="493776" y="493776"/>
                </a:lnTo>
                <a:lnTo>
                  <a:pt x="498938" y="495453"/>
                </a:lnTo>
                <a:lnTo>
                  <a:pt x="576393" y="607489"/>
                </a:lnTo>
                <a:lnTo>
                  <a:pt x="493776" y="881567"/>
                </a:lnTo>
                <a:lnTo>
                  <a:pt x="330691" y="718244"/>
                </a:lnTo>
                <a:lnTo>
                  <a:pt x="493776" y="493776"/>
                </a:lnTo>
                <a:lnTo>
                  <a:pt x="24167" y="341191"/>
                </a:lnTo>
                <a:lnTo>
                  <a:pt x="283764" y="204719"/>
                </a:lnTo>
                <a:close/>
              </a:path>
            </a:pathLst>
          </a:custGeom>
          <a:solidFill>
            <a:srgbClr val="969CA3">
              <a:alpha val="0"/>
            </a:srgbClr>
          </a:solidFill>
          <a:ln w="12065">
            <a:solidFill>
              <a:srgbClr val="969CA3"/>
            </a:solidFill>
            <a:prstDash val="dash"/>
          </a:ln>
        </p:spPr>
      </p:sp>
      <p:sp>
        <p:nvSpPr>
          <p:cNvPr id="113" name="Shape 110"/>
          <p:cNvSpPr/>
          <p:nvPr/>
        </p:nvSpPr>
        <p:spPr>
          <a:xfrm>
            <a:off x="1453896" y="283464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151223"/>
                </a:moveTo>
                <a:lnTo>
                  <a:pt x="613580" y="328880"/>
                </a:lnTo>
                <a:lnTo>
                  <a:pt x="577568" y="466550"/>
                </a:lnTo>
                <a:lnTo>
                  <a:pt x="961509" y="645752"/>
                </a:lnTo>
                <a:lnTo>
                  <a:pt x="784010" y="893249"/>
                </a:lnTo>
                <a:lnTo>
                  <a:pt x="493776" y="606207"/>
                </a:lnTo>
                <a:lnTo>
                  <a:pt x="401411" y="620905"/>
                </a:lnTo>
                <a:lnTo>
                  <a:pt x="485647" y="496417"/>
                </a:lnTo>
                <a:lnTo>
                  <a:pt x="470639" y="486258"/>
                </a:lnTo>
                <a:lnTo>
                  <a:pt x="280062" y="199623"/>
                </a:lnTo>
                <a:close/>
              </a:path>
            </a:pathLst>
          </a:custGeom>
          <a:solidFill>
            <a:srgbClr val="8B5CF6">
              <a:alpha val="17000"/>
            </a:srgbClr>
          </a:solidFill>
          <a:ln w="20955">
            <a:solidFill>
              <a:srgbClr val="8B5CF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1353312" y="40370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</a:t>
            </a:r>
            <a:endParaRPr lang="en-US" sz="1130" dirty="0"/>
          </a:p>
        </p:txBody>
      </p:sp>
      <p:sp>
        <p:nvSpPr>
          <p:cNvPr id="115" name="Shape 112"/>
          <p:cNvSpPr/>
          <p:nvPr/>
        </p:nvSpPr>
        <p:spPr>
          <a:xfrm>
            <a:off x="3689604" y="3204972"/>
            <a:ext cx="246888" cy="246888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3566160" y="3081528"/>
            <a:ext cx="493776" cy="493776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3442716" y="2958084"/>
            <a:ext cx="740664" cy="740664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319272" y="2834640"/>
            <a:ext cx="987552" cy="987552"/>
          </a:xfrm>
          <a:prstGeom prst="ellipse">
            <a:avLst/>
          </a:prstGeom>
          <a:solidFill>
            <a:srgbClr val="FFFFFF">
              <a:alpha val="0"/>
            </a:srgbClr>
          </a:solidFill>
          <a:ln w="5715">
            <a:solidFill>
              <a:srgbClr val="D7DBDF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3813048" y="2834640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3630168" y="267919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</a:t>
            </a:r>
            <a:endParaRPr lang="en-US" sz="560" dirty="0"/>
          </a:p>
        </p:txBody>
      </p:sp>
      <p:sp>
        <p:nvSpPr>
          <p:cNvPr id="121" name="Shape 118"/>
          <p:cNvSpPr/>
          <p:nvPr/>
        </p:nvSpPr>
        <p:spPr>
          <a:xfrm flipV="1">
            <a:off x="3813048" y="2928943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4159717" y="279183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560" dirty="0"/>
          </a:p>
        </p:txBody>
      </p:sp>
      <p:sp>
        <p:nvSpPr>
          <p:cNvPr id="123" name="Shape 120"/>
          <p:cNvSpPr/>
          <p:nvPr/>
        </p:nvSpPr>
        <p:spPr>
          <a:xfrm flipV="1">
            <a:off x="3813048" y="3175831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4373970" y="308672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CMDi</a:t>
            </a:r>
            <a:endParaRPr lang="en-US" sz="560" dirty="0"/>
          </a:p>
        </p:txBody>
      </p:sp>
      <p:sp>
        <p:nvSpPr>
          <p:cNvPr id="125" name="Shape 122"/>
          <p:cNvSpPr/>
          <p:nvPr/>
        </p:nvSpPr>
        <p:spPr>
          <a:xfrm>
            <a:off x="3813048" y="3328416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4373970" y="345123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560" dirty="0"/>
          </a:p>
        </p:txBody>
      </p:sp>
      <p:sp>
        <p:nvSpPr>
          <p:cNvPr id="127" name="Shape 124"/>
          <p:cNvSpPr/>
          <p:nvPr/>
        </p:nvSpPr>
        <p:spPr>
          <a:xfrm>
            <a:off x="3813048" y="3328416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4159717" y="374612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560" dirty="0"/>
          </a:p>
        </p:txBody>
      </p:sp>
      <p:sp>
        <p:nvSpPr>
          <p:cNvPr id="129" name="Shape 126"/>
          <p:cNvSpPr/>
          <p:nvPr/>
        </p:nvSpPr>
        <p:spPr>
          <a:xfrm>
            <a:off x="3813048" y="3328416"/>
            <a:ext cx="0" cy="493776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3630168" y="385876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</a:t>
            </a:r>
            <a:endParaRPr lang="en-US" sz="560" dirty="0"/>
          </a:p>
        </p:txBody>
      </p:sp>
      <p:sp>
        <p:nvSpPr>
          <p:cNvPr id="131" name="Shape 128"/>
          <p:cNvSpPr/>
          <p:nvPr/>
        </p:nvSpPr>
        <p:spPr>
          <a:xfrm flipV="1">
            <a:off x="3522814" y="3328416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3100619" y="3746129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</a:t>
            </a:r>
            <a:endParaRPr lang="en-US" sz="560" dirty="0"/>
          </a:p>
        </p:txBody>
      </p:sp>
      <p:sp>
        <p:nvSpPr>
          <p:cNvPr id="133" name="Shape 130"/>
          <p:cNvSpPr/>
          <p:nvPr/>
        </p:nvSpPr>
        <p:spPr>
          <a:xfrm flipV="1">
            <a:off x="3343439" y="3328416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2886366" y="345123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</a:t>
            </a:r>
            <a:endParaRPr lang="en-US" sz="560" dirty="0"/>
          </a:p>
        </p:txBody>
      </p:sp>
      <p:sp>
        <p:nvSpPr>
          <p:cNvPr id="135" name="Shape 132"/>
          <p:cNvSpPr/>
          <p:nvPr/>
        </p:nvSpPr>
        <p:spPr>
          <a:xfrm>
            <a:off x="3343439" y="3175831"/>
            <a:ext cx="469609" cy="152585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2886366" y="308672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560" dirty="0"/>
          </a:p>
        </p:txBody>
      </p:sp>
      <p:sp>
        <p:nvSpPr>
          <p:cNvPr id="137" name="Shape 134"/>
          <p:cNvSpPr/>
          <p:nvPr/>
        </p:nvSpPr>
        <p:spPr>
          <a:xfrm>
            <a:off x="3522814" y="2928943"/>
            <a:ext cx="290234" cy="399473"/>
          </a:xfrm>
          <a:prstGeom prst="line">
            <a:avLst/>
          </a:prstGeom>
          <a:noFill/>
          <a:ln w="5080">
            <a:solidFill>
              <a:srgbClr val="D7DBDF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3100619" y="279183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dirty="0">
                <a:solidFill>
                  <a:srgbClr val="475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560" dirty="0"/>
          </a:p>
        </p:txBody>
      </p:sp>
      <p:sp>
        <p:nvSpPr>
          <p:cNvPr id="139" name="Shape 136"/>
          <p:cNvSpPr/>
          <p:nvPr/>
        </p:nvSpPr>
        <p:spPr>
          <a:xfrm>
            <a:off x="3319272" y="283464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247880"/>
                </a:moveTo>
                <a:lnTo>
                  <a:pt x="706542" y="200929"/>
                </a:lnTo>
                <a:lnTo>
                  <a:pt x="505817" y="489864"/>
                </a:lnTo>
                <a:lnTo>
                  <a:pt x="506349" y="497861"/>
                </a:lnTo>
                <a:lnTo>
                  <a:pt x="621617" y="669735"/>
                </a:lnTo>
                <a:lnTo>
                  <a:pt x="493776" y="747925"/>
                </a:lnTo>
                <a:lnTo>
                  <a:pt x="382147" y="647420"/>
                </a:lnTo>
                <a:lnTo>
                  <a:pt x="493776" y="493776"/>
                </a:lnTo>
                <a:lnTo>
                  <a:pt x="24167" y="341191"/>
                </a:lnTo>
                <a:lnTo>
                  <a:pt x="326797" y="263949"/>
                </a:lnTo>
                <a:close/>
              </a:path>
            </a:pathLst>
          </a:custGeom>
          <a:solidFill>
            <a:srgbClr val="969CA3">
              <a:alpha val="0"/>
            </a:srgbClr>
          </a:solidFill>
          <a:ln w="12065">
            <a:solidFill>
              <a:srgbClr val="969CA3"/>
            </a:solidFill>
            <a:prstDash val="dash"/>
          </a:ln>
        </p:spPr>
      </p:sp>
      <p:sp>
        <p:nvSpPr>
          <p:cNvPr id="140" name="Shape 137"/>
          <p:cNvSpPr/>
          <p:nvPr/>
        </p:nvSpPr>
        <p:spPr>
          <a:xfrm>
            <a:off x="3319272" y="283464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lnTo>
                  <a:pt x="679806" y="237728"/>
                </a:lnTo>
                <a:lnTo>
                  <a:pt x="640882" y="445978"/>
                </a:lnTo>
                <a:lnTo>
                  <a:pt x="775541" y="585327"/>
                </a:lnTo>
                <a:lnTo>
                  <a:pt x="591686" y="628538"/>
                </a:lnTo>
                <a:lnTo>
                  <a:pt x="493776" y="655592"/>
                </a:lnTo>
                <a:lnTo>
                  <a:pt x="430134" y="581371"/>
                </a:lnTo>
                <a:lnTo>
                  <a:pt x="476802" y="499291"/>
                </a:lnTo>
                <a:lnTo>
                  <a:pt x="482460" y="490099"/>
                </a:lnTo>
                <a:lnTo>
                  <a:pt x="297256" y="223289"/>
                </a:lnTo>
                <a:close/>
              </a:path>
            </a:pathLst>
          </a:custGeom>
          <a:solidFill>
            <a:srgbClr val="DC2626">
              <a:alpha val="17000"/>
            </a:srgbClr>
          </a:solidFill>
          <a:ln w="20955">
            <a:solidFill>
              <a:srgbClr val="DC2626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3218688" y="40370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</a:t>
            </a:r>
            <a:endParaRPr lang="en-US" sz="1130" dirty="0"/>
          </a:p>
        </p:txBody>
      </p:sp>
      <p:sp>
        <p:nvSpPr>
          <p:cNvPr id="142" name="Shape 139"/>
          <p:cNvSpPr/>
          <p:nvPr/>
        </p:nvSpPr>
        <p:spPr>
          <a:xfrm>
            <a:off x="1060704" y="4407408"/>
            <a:ext cx="292608" cy="0"/>
          </a:xfrm>
          <a:prstGeom prst="line">
            <a:avLst/>
          </a:prstGeom>
          <a:noFill/>
          <a:ln w="17780">
            <a:solidFill>
              <a:srgbClr val="66707B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435608" y="432054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rate</a:t>
            </a:r>
            <a:endParaRPr lang="en-US" sz="850" dirty="0"/>
          </a:p>
        </p:txBody>
      </p:sp>
      <p:sp>
        <p:nvSpPr>
          <p:cNvPr id="144" name="Shape 141"/>
          <p:cNvSpPr/>
          <p:nvPr/>
        </p:nvSpPr>
        <p:spPr>
          <a:xfrm>
            <a:off x="2916753" y="4407408"/>
            <a:ext cx="292608" cy="0"/>
          </a:xfrm>
          <a:prstGeom prst="line">
            <a:avLst/>
          </a:prstGeom>
          <a:noFill/>
          <a:ln w="12700">
            <a:solidFill>
              <a:srgbClr val="66707B"/>
            </a:solidFill>
            <a:prstDash val="dash"/>
          </a:ln>
        </p:spPr>
      </p:sp>
      <p:sp>
        <p:nvSpPr>
          <p:cNvPr id="145" name="Text 142"/>
          <p:cNvSpPr/>
          <p:nvPr/>
        </p:nvSpPr>
        <p:spPr>
          <a:xfrm>
            <a:off x="3291657" y="4320540"/>
            <a:ext cx="14083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success rate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" baseType="lpstr">
      <vt:lpstr>CyBiasBench (NeurIPS 2026)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CyBiasBench: NeurIPS 2026 thumbnail</dc:title>
  <dc:subject>Traditional paper figures and conceptual illustrations of attack-selection bias</dc:subject>
  <dc:creator>CyBiasBench</dc:creator>
  <cp:lastModifiedBy>CyBiasBench</cp:lastModifiedBy>
  <cp:revision>1</cp:revision>
  <dcterms:created xsi:type="dcterms:W3CDTF">2026-10-19T05:18:48Z</dcterms:created>
  <dcterms:modified xsi:type="dcterms:W3CDTF">2026-10-19T05:18:48Z</dcterms:modified>
</cp:coreProperties>
</file>